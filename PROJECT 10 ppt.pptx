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716523" cy="18466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rPr lang="en-IN" dirty="0"/>
              <a:t>                           NEXTHIKES IT SOLUTIONS</a:t>
            </a:r>
          </a:p>
          <a:p>
            <a:pPr>
              <a:defRPr sz="3800" b="1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3800" b="1">
                <a:solidFill>
                  <a:srgbClr val="FFFFFF"/>
                </a:solidFill>
              </a:defRPr>
            </a:pPr>
            <a:r>
              <a:rPr lang="en-IN" dirty="0"/>
              <a:t>           Project:   </a:t>
            </a:r>
            <a:r>
              <a:rPr dirty="0"/>
              <a:t>Custom OCR for Medical Lab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61187" y="3081099"/>
            <a:ext cx="8006166" cy="2677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DCE6F2"/>
                </a:solidFill>
              </a:defRPr>
            </a:pPr>
            <a:r>
              <a:rPr dirty="0"/>
              <a:t>YOLOv3-based medical text-region detection + OCR + spatial structuring</a:t>
            </a:r>
            <a:endParaRPr lang="en-IN" dirty="0"/>
          </a:p>
          <a:p>
            <a:pPr>
              <a:defRPr sz="2100">
                <a:solidFill>
                  <a:srgbClr val="DCE6F2"/>
                </a:solidFill>
              </a:defRPr>
            </a:pPr>
            <a:endParaRPr lang="en-IN" dirty="0"/>
          </a:p>
          <a:p>
            <a:pPr>
              <a:defRPr sz="2100">
                <a:solidFill>
                  <a:srgbClr val="DCE6F2"/>
                </a:solidFill>
              </a:defRPr>
            </a:pPr>
            <a:endParaRPr lang="en-IN" dirty="0"/>
          </a:p>
          <a:p>
            <a:pPr>
              <a:defRPr sz="2100">
                <a:solidFill>
                  <a:srgbClr val="DCE6F2"/>
                </a:solidFill>
              </a:defRPr>
            </a:pPr>
            <a:endParaRPr lang="en-IN" dirty="0"/>
          </a:p>
          <a:p>
            <a:pPr>
              <a:defRPr sz="2100">
                <a:solidFill>
                  <a:srgbClr val="DCE6F2"/>
                </a:solidFill>
              </a:defRPr>
            </a:pPr>
            <a:endParaRPr lang="en-IN" dirty="0"/>
          </a:p>
          <a:p>
            <a:pPr>
              <a:defRPr sz="2100">
                <a:solidFill>
                  <a:srgbClr val="DCE6F2"/>
                </a:solidFill>
              </a:defRPr>
            </a:pPr>
            <a:endParaRPr lang="en-IN" dirty="0"/>
          </a:p>
          <a:p>
            <a:pPr>
              <a:defRPr sz="2100">
                <a:solidFill>
                  <a:srgbClr val="DCE6F2"/>
                </a:solidFill>
              </a:defRPr>
            </a:pPr>
            <a:endParaRPr lang="en-IN" dirty="0"/>
          </a:p>
          <a:p>
            <a:pPr>
              <a:defRPr sz="2100">
                <a:solidFill>
                  <a:srgbClr val="DCE6F2"/>
                </a:solidFill>
              </a:defRPr>
            </a:pPr>
            <a:r>
              <a:rPr lang="en-IN" dirty="0"/>
              <a:t>                                                                                            By- Sakshi Jaiswal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Project Objective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029200" cy="1783080"/>
          </a:xfrm>
          <a:prstGeom prst="roundRect">
            <a:avLst/>
          </a:prstGeom>
          <a:solidFill>
            <a:srgbClr val="F7F9FC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73152" cy="1783080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481328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D4B"/>
                </a:solidFill>
              </a:defRPr>
            </a:pPr>
            <a:r>
              <a:t>Detect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20240"/>
            <a:ext cx="46634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D2D2D"/>
                </a:solidFill>
              </a:defRPr>
            </a:pPr>
            <a:r>
              <a:t>Locate the four important semantic regions in a laboratory report.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029200" cy="1783080"/>
          </a:xfrm>
          <a:prstGeom prst="roundRect">
            <a:avLst/>
          </a:prstGeom>
          <a:solidFill>
            <a:srgbClr val="F7F9FC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73152" cy="1783080"/>
          </a:xfrm>
          <a:prstGeom prst="rect">
            <a:avLst/>
          </a:prstGeom>
          <a:solidFill>
            <a:srgbClr val="238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481328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D4B"/>
                </a:solidFill>
              </a:defRPr>
            </a:pPr>
            <a:r>
              <a:t>Recognize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920240"/>
            <a:ext cx="46634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D2D2D"/>
                </a:solidFill>
              </a:defRPr>
            </a:pPr>
            <a:r>
              <a:t>Apply OCR to each detected region instead of the full page.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29000"/>
            <a:ext cx="5029200" cy="1783080"/>
          </a:xfrm>
          <a:prstGeom prst="roundRect">
            <a:avLst/>
          </a:prstGeom>
          <a:solidFill>
            <a:srgbClr val="F7F9FC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429000"/>
            <a:ext cx="73152" cy="1783080"/>
          </a:xfrm>
          <a:prstGeom prst="rect">
            <a:avLst/>
          </a:prstGeom>
          <a:solidFill>
            <a:srgbClr val="DC8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3584448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D4B"/>
                </a:solidFill>
              </a:defRPr>
            </a:pPr>
            <a:r>
              <a:t>Associate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023360"/>
            <a:ext cx="46634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D2D2D"/>
                </a:solidFill>
              </a:defRPr>
            </a:pPr>
            <a:r>
              <a:t>Use bounding-box coordinates to connect fields belonging to the same row.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429000"/>
            <a:ext cx="5029200" cy="1783080"/>
          </a:xfrm>
          <a:prstGeom prst="roundRect">
            <a:avLst/>
          </a:prstGeom>
          <a:solidFill>
            <a:srgbClr val="F7F9FC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429000"/>
            <a:ext cx="73152" cy="1783080"/>
          </a:xfrm>
          <a:prstGeom prst="rect">
            <a:avLst/>
          </a:prstGeom>
          <a:solidFill>
            <a:srgbClr val="41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19088" y="3584448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D4B"/>
                </a:solidFill>
              </a:defRPr>
            </a:pPr>
            <a:r>
              <a:t>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023360"/>
            <a:ext cx="46634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D2D2D"/>
                </a:solidFill>
              </a:defRPr>
            </a:pPr>
            <a:r>
              <a:t>Generate a clean DataFrame and CSV suitable for downstream use.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Dataset &amp; Annotation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2286000" cy="1371600"/>
          </a:xfrm>
          <a:prstGeom prst="roundRect">
            <a:avLst/>
          </a:prstGeom>
          <a:solidFill>
            <a:srgbClr val="E8F1FA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63039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3769AA"/>
                </a:solidFill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2D2D2D"/>
                </a:solidFill>
              </a:defRPr>
            </a:pPr>
            <a:r>
              <a:t>Total annotated images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325880"/>
            <a:ext cx="2286000" cy="1371600"/>
          </a:xfrm>
          <a:prstGeom prst="roundRect">
            <a:avLst/>
          </a:prstGeom>
          <a:solidFill>
            <a:srgbClr val="E8F1FA"/>
          </a:solidFill>
          <a:ln>
            <a:solidFill>
              <a:srgbClr val="238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46120" y="1463039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3827D"/>
                </a:solidFill>
              </a:defRPr>
            </a:pPr>
            <a:r>
              <a:t>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39" y="21031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2D2D2D"/>
                </a:solidFill>
              </a:defRPr>
            </a:pPr>
            <a:r>
              <a:t>Total bounding boxes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0" y="1325880"/>
            <a:ext cx="2286000" cy="1371600"/>
          </a:xfrm>
          <a:prstGeom prst="roundRect">
            <a:avLst/>
          </a:prstGeom>
          <a:solidFill>
            <a:srgbClr val="E8F1FA"/>
          </a:solidFill>
          <a:ln>
            <a:solidFill>
              <a:srgbClr val="DC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15000" y="1463039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DC8737"/>
                </a:solidFill>
              </a:defRPr>
            </a:pPr>
            <a:r>
              <a:t>9 /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1031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2D2D2D"/>
                </a:solidFill>
              </a:defRPr>
            </a:pPr>
            <a:r>
              <a:t>Train / validation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325880"/>
            <a:ext cx="2286000" cy="1371600"/>
          </a:xfrm>
          <a:prstGeom prst="roundRect">
            <a:avLst/>
          </a:prstGeom>
          <a:solidFill>
            <a:srgbClr val="E8F1FA"/>
          </a:solidFill>
          <a:ln>
            <a:solidFill>
              <a:srgbClr val="41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83879" y="1463039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41915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031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2D2D2D"/>
                </a:solidFill>
              </a:defRPr>
            </a:pPr>
            <a:r>
              <a:t>Detection classes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0632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</a:defRPr>
            </a:pPr>
            <a:r>
              <a:t>YOLO-format annotations were validated before training.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</a:defRPr>
            </a:pPr>
            <a:r>
              <a:t>Class distribution: test_name = 15, value = 15, unit = 14, reference_range = 16.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</a:defRPr>
            </a:pPr>
            <a:r>
              <a:t>Annotation validation reported 0 errors.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</a:defRPr>
            </a:pPr>
            <a:r>
              <a:t>The dataset is small and should be treated as a prototype dataset rather than a production-scale corpus.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YOLOv3 Architecture &amp; Configuration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645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554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92D4B"/>
                </a:solidFill>
              </a:defRPr>
            </a:pPr>
            <a:r>
              <a:t>Input</a:t>
            </a:r>
            <a:br/>
            <a:r>
              <a:t>416×416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1417320"/>
            <a:ext cx="1828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238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60320" y="1508760"/>
            <a:ext cx="1737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92D4B"/>
                </a:solidFill>
              </a:defRPr>
            </a:pPr>
            <a:r>
              <a:t>Darknet-53</a:t>
            </a:r>
            <a:br/>
            <a:r>
              <a:t>Backbone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417320"/>
            <a:ext cx="17373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9159" y="1508760"/>
            <a:ext cx="164591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92D4B"/>
                </a:solidFill>
              </a:defRPr>
            </a:pPr>
            <a:r>
              <a:t>Feature</a:t>
            </a:r>
            <a:br/>
            <a:r>
              <a:t>Extraction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1417320"/>
            <a:ext cx="1645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41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59" y="1508760"/>
            <a:ext cx="1554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92D4B"/>
                </a:solidFill>
              </a:defRPr>
            </a:pPr>
            <a:r>
              <a:t>3 Detection</a:t>
            </a:r>
            <a:br/>
            <a:r>
              <a:t>Scales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1417320"/>
            <a:ext cx="21945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0" y="1508760"/>
            <a:ext cx="210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92D4B"/>
                </a:solidFill>
              </a:defRPr>
            </a:pPr>
            <a:r>
              <a:t>4 Classes</a:t>
            </a:r>
            <a:br/>
            <a:r>
              <a:t>27 filters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194560" y="1810512"/>
            <a:ext cx="320040" cy="256032"/>
          </a:xfrm>
          <a:prstGeom prst="rightArrow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ight Arrow 16"/>
          <p:cNvSpPr/>
          <p:nvPr/>
        </p:nvSpPr>
        <p:spPr>
          <a:xfrm>
            <a:off x="4297680" y="1810512"/>
            <a:ext cx="320040" cy="256032"/>
          </a:xfrm>
          <a:prstGeom prst="rightArrow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ight Arrow 17"/>
          <p:cNvSpPr/>
          <p:nvPr/>
        </p:nvSpPr>
        <p:spPr>
          <a:xfrm>
            <a:off x="6355080" y="1810512"/>
            <a:ext cx="320040" cy="256032"/>
          </a:xfrm>
          <a:prstGeom prst="rightArrow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ight Arrow 18"/>
          <p:cNvSpPr/>
          <p:nvPr/>
        </p:nvSpPr>
        <p:spPr>
          <a:xfrm>
            <a:off x="8366760" y="1810512"/>
            <a:ext cx="320040" cy="256032"/>
          </a:xfrm>
          <a:prstGeom prst="rightArrow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38" y="2916936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rPr dirty="0"/>
              <a:t>An archived YOLOv3 implementation was used because it supports the original Darknet-style configuration.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rPr dirty="0"/>
              <a:t>The standard 80-class configuration was converted to a 4-class medical-text detector.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rPr dirty="0"/>
              <a:t>Detection filters were changed from 255 to 27 for the three YOLO heads: 3 × (4 + 5) = 27.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rPr dirty="0"/>
              <a:t>Pretrained Darknet-53 convolutional weights were used as the starting backbone.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Model Training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2286000" cy="1371600"/>
          </a:xfrm>
          <a:prstGeom prst="roundRect">
            <a:avLst/>
          </a:prstGeom>
          <a:solidFill>
            <a:srgbClr val="E8F1FA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63039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3769AA"/>
                </a:solidFill>
              </a:defRPr>
            </a:pPr>
            <a:r>
              <a:t>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2D2D2D"/>
                </a:solidFill>
              </a:defRPr>
            </a:pPr>
            <a:r>
              <a:t>Training epochs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325880"/>
            <a:ext cx="2286000" cy="1371600"/>
          </a:xfrm>
          <a:prstGeom prst="roundRect">
            <a:avLst/>
          </a:prstGeom>
          <a:solidFill>
            <a:srgbClr val="E8F1FA"/>
          </a:solidFill>
          <a:ln>
            <a:solidFill>
              <a:srgbClr val="238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37560" y="1463039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3827D"/>
                </a:solidFill>
              </a:defRPr>
            </a:pPr>
            <a:r>
              <a:t>416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79" y="21031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2D2D2D"/>
                </a:solidFill>
              </a:defRPr>
            </a:pPr>
            <a:r>
              <a:t>Input size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325880"/>
            <a:ext cx="2286000" cy="1371600"/>
          </a:xfrm>
          <a:prstGeom prst="roundRect">
            <a:avLst/>
          </a:prstGeom>
          <a:solidFill>
            <a:srgbClr val="E8F1FA"/>
          </a:solidFill>
          <a:ln>
            <a:solidFill>
              <a:srgbClr val="DC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52160" y="1463039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DC8737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21031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2D2D2D"/>
                </a:solidFill>
              </a:defRPr>
            </a:pPr>
            <a:r>
              <a:t>Target classes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325880"/>
            <a:ext cx="2286000" cy="1371600"/>
          </a:xfrm>
          <a:prstGeom prst="roundRect">
            <a:avLst/>
          </a:prstGeom>
          <a:solidFill>
            <a:srgbClr val="E8F1FA"/>
          </a:solidFill>
          <a:ln>
            <a:solidFill>
              <a:srgbClr val="41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1463039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41915F"/>
                </a:solidFill>
              </a:defRPr>
            </a:pPr>
            <a:r>
              <a:t>T4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1031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2D2D2D"/>
                </a:solidFill>
              </a:defRPr>
            </a:pPr>
            <a:r>
              <a:t>CUDA training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0632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</a:defRPr>
            </a:pPr>
            <a:r>
              <a:t>Training used the custom YOLOv3 configuration and pretrained Darknet-53 convolutional weights.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</a:defRPr>
            </a:pPr>
            <a:r>
              <a:t>Compatibility patches were required because the archived implementation predates current NumPy/PyTorch behavior.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</a:defRPr>
            </a:pPr>
            <a:r>
              <a:t>The final checkpoint was successfully saved and copied to the project Google Drive model directory.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</a:defRPr>
            </a:pPr>
            <a:r>
              <a:t>Checkpoint size: approximately 235 MB.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Detection Classes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34440"/>
            <a:ext cx="10515600" cy="868680"/>
          </a:xfrm>
          <a:prstGeom prst="roundRect">
            <a:avLst/>
          </a:prstGeom>
          <a:solidFill>
            <a:srgbClr val="F7F9FC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39903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769AA"/>
                </a:solidFill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380744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D4B"/>
                </a:solidFill>
              </a:defRPr>
            </a:pPr>
            <a:r>
              <a:t>test_name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399032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Laboratory test name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77440"/>
            <a:ext cx="10515600" cy="868680"/>
          </a:xfrm>
          <a:prstGeom prst="roundRect">
            <a:avLst/>
          </a:prstGeom>
          <a:solidFill>
            <a:srgbClr val="F7F9FC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254203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3827D"/>
                </a:solidFill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523744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D4B"/>
                </a:solidFill>
              </a:defRPr>
            </a:pPr>
            <a:r>
              <a:t>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542032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Measured numeric/text result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20440"/>
            <a:ext cx="10515600" cy="868680"/>
          </a:xfrm>
          <a:prstGeom prst="roundRect">
            <a:avLst/>
          </a:prstGeom>
          <a:solidFill>
            <a:srgbClr val="F7F9FC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368503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DC8737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3666744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D4B"/>
                </a:solidFill>
              </a:defRPr>
            </a:pPr>
            <a:r>
              <a:t>unit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685032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Measurement unit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663440"/>
            <a:ext cx="10515600" cy="868680"/>
          </a:xfrm>
          <a:prstGeom prst="roundRect">
            <a:avLst/>
          </a:prstGeom>
          <a:solidFill>
            <a:srgbClr val="F7F9FC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4828031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41915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809744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D4B"/>
                </a:solidFill>
              </a:defRPr>
            </a:pPr>
            <a:r>
              <a:t>reference_range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828031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Expected/reference interval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YOLO Validation 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371600"/>
            <a:ext cx="2560320" cy="1508760"/>
          </a:xfrm>
          <a:prstGeom prst="roundRect">
            <a:avLst/>
          </a:prstGeom>
          <a:solidFill>
            <a:srgbClr val="E8F1FA"/>
          </a:solidFill>
          <a:ln>
            <a:solidFill>
              <a:srgbClr val="BE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BE4B4B"/>
                </a:solidFill>
              </a:defRPr>
            </a:pPr>
            <a:r>
              <a:t>0.251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2468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2D2D2D"/>
                </a:solidFill>
              </a:defRPr>
            </a:pPr>
            <a:r>
              <a:t>Precision @ 0.5 IoU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3320" y="1371600"/>
            <a:ext cx="2560320" cy="1508760"/>
          </a:xfrm>
          <a:prstGeom prst="roundRect">
            <a:avLst/>
          </a:prstGeom>
          <a:solidFill>
            <a:srgbClr val="E8F1FA"/>
          </a:solidFill>
          <a:ln>
            <a:solidFill>
              <a:srgbClr val="DC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03320" y="1508760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DC8737"/>
                </a:solidFill>
              </a:defRPr>
            </a:pPr>
            <a:r>
              <a:t>0.583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148840"/>
            <a:ext cx="2468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2D2D2D"/>
                </a:solidFill>
              </a:defRPr>
            </a:pPr>
            <a:r>
              <a:t>Recall @ 0.5 IoU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371600"/>
            <a:ext cx="2560320" cy="1508760"/>
          </a:xfrm>
          <a:prstGeom prst="roundRect">
            <a:avLst/>
          </a:prstGeom>
          <a:solidFill>
            <a:srgbClr val="E8F1FA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508760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3769AA"/>
                </a:solidFill>
              </a:defRPr>
            </a:pPr>
            <a:r>
              <a:t>0.499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59" y="2148840"/>
            <a:ext cx="2468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2D2D2D"/>
                </a:solidFill>
              </a:defRPr>
            </a:pPr>
            <a:r>
              <a:t>mAP @ 0.5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60" y="1371600"/>
            <a:ext cx="2011680" cy="1508760"/>
          </a:xfrm>
          <a:prstGeom prst="roundRect">
            <a:avLst/>
          </a:prstGeom>
          <a:solidFill>
            <a:srgbClr val="E8F1FA"/>
          </a:solidFill>
          <a:ln>
            <a:solidFill>
              <a:srgbClr val="238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81160" y="1508760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3827D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14884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2D2D2D"/>
                </a:solidFill>
              </a:defRPr>
            </a:pPr>
            <a:r>
              <a:t>Validation images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3375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</a:defRPr>
            </a:pPr>
            <a:r>
              <a:t>These are prototype validation metrics from only three validation images.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</a:defRPr>
            </a:pPr>
            <a:r>
              <a:t>The model learned meaningful region patterns, but precision remains low and the detector is not production-ready.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</a:defRPr>
            </a:pPr>
            <a:r>
              <a:t>The result is useful as a proof of the end-to-end pipeline and as a baseline for future improvement.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572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End-to-End OCR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148840"/>
            <a:ext cx="120993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13056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92D4B"/>
                </a:solidFill>
              </a:defRPr>
            </a:pPr>
            <a:r>
              <a:t>Lab report</a:t>
            </a:r>
            <a:br/>
            <a:r>
              <a:t>image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667130" y="2569464"/>
            <a:ext cx="320040" cy="256032"/>
          </a:xfrm>
          <a:prstGeom prst="rightArrow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014602" y="2148840"/>
            <a:ext cx="1179397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238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32890" y="2240280"/>
            <a:ext cx="100682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92D4B"/>
                </a:solidFill>
              </a:defRPr>
            </a:pPr>
            <a:r>
              <a:rPr dirty="0"/>
              <a:t>YOLOv3</a:t>
            </a:r>
            <a:br>
              <a:rPr dirty="0"/>
            </a:br>
            <a:r>
              <a:rPr dirty="0"/>
              <a:t>object detection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85769" y="2552873"/>
            <a:ext cx="320040" cy="256032"/>
          </a:xfrm>
          <a:prstGeom prst="rightArrow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748804" y="2163263"/>
            <a:ext cx="1481328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21862" y="2220295"/>
            <a:ext cx="1481328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92D4B"/>
                </a:solidFill>
              </a:defRPr>
            </a:pPr>
            <a:r>
              <a:t>Detected medical</a:t>
            </a:r>
            <a:br/>
            <a:r>
              <a:t>text regions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376342" y="2542032"/>
            <a:ext cx="320040" cy="256032"/>
          </a:xfrm>
          <a:prstGeom prst="rightArrow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5751755" y="2183992"/>
            <a:ext cx="14630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41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81694" y="2225486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92D4B"/>
                </a:solidFill>
              </a:defRPr>
            </a:pPr>
            <a:r>
              <a:rPr dirty="0"/>
              <a:t>OCR extraction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287947" y="2552873"/>
            <a:ext cx="320040" cy="256032"/>
          </a:xfrm>
          <a:prstGeom prst="rightArrow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635419" y="2170993"/>
            <a:ext cx="120177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35419" y="230630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92D4B"/>
                </a:solidFill>
              </a:defRPr>
            </a:pPr>
            <a:r>
              <a:rPr dirty="0"/>
              <a:t>Spatial</a:t>
            </a:r>
            <a:br>
              <a:rPr dirty="0"/>
            </a:br>
            <a:r>
              <a:rPr dirty="0"/>
              <a:t>association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924723" y="2549479"/>
            <a:ext cx="320040" cy="256032"/>
          </a:xfrm>
          <a:prstGeom prst="rightArrow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Rounded Rectangle 20"/>
          <p:cNvSpPr/>
          <p:nvPr/>
        </p:nvSpPr>
        <p:spPr>
          <a:xfrm>
            <a:off x="9546336" y="2148840"/>
            <a:ext cx="1136599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238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9427643" y="2183992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92D4B"/>
                </a:solidFill>
              </a:defRPr>
            </a:pPr>
            <a:r>
              <a:rPr dirty="0"/>
              <a:t>Structured</a:t>
            </a:r>
            <a:br>
              <a:rPr dirty="0"/>
            </a:br>
            <a:r>
              <a:rPr dirty="0"/>
              <a:t>lab report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10822103" y="2501890"/>
            <a:ext cx="320040" cy="256032"/>
          </a:xfrm>
          <a:prstGeom prst="rightArrow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Rounded Rectangle 23"/>
          <p:cNvSpPr/>
          <p:nvPr/>
        </p:nvSpPr>
        <p:spPr>
          <a:xfrm>
            <a:off x="11165003" y="2121408"/>
            <a:ext cx="980972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881360" y="2257856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92D4B"/>
                </a:solidFill>
              </a:defRPr>
            </a:pPr>
            <a:r>
              <a:rPr dirty="0"/>
              <a:t>CSV</a:t>
            </a:r>
            <a:br>
              <a:rPr dirty="0"/>
            </a:br>
            <a:r>
              <a:rPr dirty="0"/>
              <a:t>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1605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</a:defRPr>
            </a:pPr>
            <a:r>
              <a:t>The design avoids applying OCR blindly to the entire page.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</a:defRPr>
            </a:pPr>
            <a:r>
              <a:t>Each semantic region is processed independently, preserving its role in the final structured record.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Spatial Association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383280" cy="1828800"/>
          </a:xfrm>
          <a:prstGeom prst="roundRect">
            <a:avLst/>
          </a:prstGeom>
          <a:solidFill>
            <a:srgbClr val="F7F9FC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73152" cy="1828800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481328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D4B"/>
                </a:solidFill>
              </a:defRPr>
            </a:pPr>
            <a:r>
              <a:t>Bounding boxes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20240"/>
            <a:ext cx="2749920" cy="6694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D2D2D"/>
                </a:solidFill>
              </a:defRPr>
            </a:pPr>
            <a:r>
              <a:rPr dirty="0"/>
              <a:t>Every detection retains its coordinates, </a:t>
            </a:r>
            <a:endParaRPr lang="en-IN" dirty="0"/>
          </a:p>
          <a:p>
            <a:pPr>
              <a:defRPr sz="1250">
                <a:solidFill>
                  <a:srgbClr val="2D2D2D"/>
                </a:solidFill>
              </a:defRPr>
            </a:pPr>
            <a:r>
              <a:rPr dirty="0"/>
              <a:t>allowing the pipeline to reason about</a:t>
            </a:r>
            <a:endParaRPr lang="en-IN" dirty="0"/>
          </a:p>
          <a:p>
            <a:pPr>
              <a:defRPr sz="1250">
                <a:solidFill>
                  <a:srgbClr val="2D2D2D"/>
                </a:solidFill>
              </a:defRPr>
            </a:pPr>
            <a:r>
              <a:rPr dirty="0"/>
              <a:t> relative position.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383280" cy="1828800"/>
          </a:xfrm>
          <a:prstGeom prst="roundRect">
            <a:avLst/>
          </a:prstGeom>
          <a:solidFill>
            <a:srgbClr val="F7F9FC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325880"/>
            <a:ext cx="73152" cy="1828800"/>
          </a:xfrm>
          <a:prstGeom prst="rect">
            <a:avLst/>
          </a:prstGeom>
          <a:solidFill>
            <a:srgbClr val="238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481328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D4B"/>
                </a:solidFill>
              </a:defRPr>
            </a:pPr>
            <a:r>
              <a:t>Row matching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920240"/>
            <a:ext cx="2685672" cy="6694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D2D2D"/>
                </a:solidFill>
              </a:defRPr>
            </a:pPr>
            <a:r>
              <a:rPr dirty="0"/>
              <a:t>The closest compatible detections are </a:t>
            </a:r>
            <a:endParaRPr lang="en-IN" dirty="0"/>
          </a:p>
          <a:p>
            <a:pPr>
              <a:defRPr sz="1250">
                <a:solidFill>
                  <a:srgbClr val="2D2D2D"/>
                </a:solidFill>
              </a:defRPr>
            </a:pPr>
            <a:r>
              <a:rPr dirty="0"/>
              <a:t>grouped using spatial proximity and</a:t>
            </a:r>
            <a:endParaRPr lang="en-IN" dirty="0"/>
          </a:p>
          <a:p>
            <a:pPr>
              <a:defRPr sz="1250">
                <a:solidFill>
                  <a:srgbClr val="2D2D2D"/>
                </a:solidFill>
              </a:defRPr>
            </a:pPr>
            <a:r>
              <a:rPr dirty="0"/>
              <a:t> row tolerance.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25880"/>
            <a:ext cx="3383280" cy="1828800"/>
          </a:xfrm>
          <a:prstGeom prst="roundRect">
            <a:avLst/>
          </a:prstGeom>
          <a:solidFill>
            <a:srgbClr val="F7F9FC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325880"/>
            <a:ext cx="73152" cy="1828800"/>
          </a:xfrm>
          <a:prstGeom prst="rect">
            <a:avLst/>
          </a:prstGeom>
          <a:solidFill>
            <a:srgbClr val="DC8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481328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D4B"/>
                </a:solidFill>
              </a:defRPr>
            </a:pPr>
            <a:r>
              <a:t>Structured row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920240"/>
            <a:ext cx="3114058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D2D2D"/>
                </a:solidFill>
              </a:defRPr>
            </a:pPr>
            <a:r>
              <a:rPr dirty="0"/>
              <a:t>The selected fields are assembled as</a:t>
            </a:r>
            <a:endParaRPr lang="en-IN" dirty="0"/>
          </a:p>
          <a:p>
            <a:pPr>
              <a:defRPr sz="1250">
                <a:solidFill>
                  <a:srgbClr val="2D2D2D"/>
                </a:solidFill>
              </a:defRPr>
            </a:pPr>
            <a:r>
              <a:rPr dirty="0"/>
              <a:t> </a:t>
            </a:r>
            <a:r>
              <a:rPr dirty="0" err="1"/>
              <a:t>test_name</a:t>
            </a:r>
            <a:r>
              <a:rPr dirty="0"/>
              <a:t>, value, unit and </a:t>
            </a:r>
            <a:r>
              <a:rPr dirty="0" err="1"/>
              <a:t>reference_range</a:t>
            </a:r>
            <a:r>
              <a:rPr dirty="0"/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703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</a:defRPr>
            </a:pPr>
            <a:r>
              <a:t>This stage is critical because OCR output alone does not indicate which test a value belongs to.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</a:defRPr>
            </a:pPr>
            <a:r>
              <a:t>The implementation uses coordinates rather than manually entering medical values.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</a:defRPr>
            </a:pPr>
            <a:r>
              <a:t>Duplicate spatial detections are consolidated before the final CSV is produced.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Structured Lab-Report Output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463040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92D4B"/>
                          </a:solidFill>
                        </a:defRPr>
                      </a:pPr>
                      <a:r>
                        <a:t>test_name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92D4B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92D4B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92D4B"/>
                          </a:solidFill>
                        </a:defRPr>
                      </a:pPr>
                      <a:r>
                        <a:t>reference_range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rT : ox ime voamowe (TSH)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vat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34290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</a:defRPr>
            </a:pPr>
            <a:r>
              <a:t>The final structure is a four-column DataFrame with the intended schema.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</a:defRPr>
            </a:pPr>
            <a:r>
              <a:t>The displayed OCR text is the actual prototype OCR result and was not manually corrected.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</a:defRPr>
            </a:pPr>
            <a:r>
              <a:t>The missing fields illustrate the current recognition limitation rather than fabricated values.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Final Project Outputs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</a:defRPr>
            </a:pPr>
            <a:r>
              <a:t>Custom YOLOv3 model trained and checkpoint saved.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</a:defRPr>
            </a:pPr>
            <a:r>
              <a:t>YOLO validation performed.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</a:defRPr>
            </a:pPr>
            <a:r>
              <a:t>OCR extraction and spatial association completed.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</a:defRPr>
            </a:pPr>
            <a:r>
              <a:t>Duplicate detections consolidated.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</a:defRPr>
            </a:pPr>
            <a:r>
              <a:t>Final structured OCR CSV generated.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</a:defRPr>
            </a:pPr>
            <a:r>
              <a:t>Project evaluation summary and final documentation generated.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Very small dataset: only 12 annotated images.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Only three images were used for validation, so metrics have high uncertainty.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Prototype OCR output contains recognition errors and incomplete fields.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The current spatial association logic is designed for this prototype layout and may need adaptation for varied report formats.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Production use would require substantially more diverse training data, stronger OCR preprocessing and rigorous clinical validation.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Future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212080" cy="1874519"/>
          </a:xfrm>
          <a:prstGeom prst="roundRect">
            <a:avLst/>
          </a:prstGeom>
          <a:solidFill>
            <a:srgbClr val="F7F9FC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73152" cy="1874519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389888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D4B"/>
                </a:solidFill>
              </a:defRPr>
            </a:pPr>
            <a:r>
              <a:t>More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828800"/>
            <a:ext cx="4846320" cy="1142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D2D2D"/>
                </a:solidFill>
              </a:defRPr>
            </a:pPr>
            <a:r>
              <a:t>Expand to hundreds/thousands of reports with diverse fonts, layouts and laboratories.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34440"/>
            <a:ext cx="5212080" cy="1874519"/>
          </a:xfrm>
          <a:prstGeom prst="roundRect">
            <a:avLst/>
          </a:prstGeom>
          <a:solidFill>
            <a:srgbClr val="F7F9FC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234440"/>
            <a:ext cx="73152" cy="1874519"/>
          </a:xfrm>
          <a:prstGeom prst="rect">
            <a:avLst/>
          </a:prstGeom>
          <a:solidFill>
            <a:srgbClr val="238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7" y="1389888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D4B"/>
                </a:solidFill>
              </a:defRPr>
            </a:pPr>
            <a:r>
              <a:t>Better OCR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1828800"/>
            <a:ext cx="4846320" cy="1142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D2D2D"/>
                </a:solidFill>
              </a:defRPr>
            </a:pPr>
            <a:r>
              <a:t>Compare Tesseract, EasyOCR and PaddleOCR with preprocessing and confidence scoring.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74720"/>
            <a:ext cx="5212080" cy="1874519"/>
          </a:xfrm>
          <a:prstGeom prst="roundRect">
            <a:avLst/>
          </a:prstGeom>
          <a:solidFill>
            <a:srgbClr val="F7F9FC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3474720"/>
            <a:ext cx="73152" cy="1874519"/>
          </a:xfrm>
          <a:prstGeom prst="rect">
            <a:avLst/>
          </a:prstGeom>
          <a:solidFill>
            <a:srgbClr val="DC8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3630168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D4B"/>
                </a:solidFill>
              </a:defRPr>
            </a:pPr>
            <a:r>
              <a:t>Model tuning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069080"/>
            <a:ext cx="4846320" cy="1142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D2D2D"/>
                </a:solidFill>
              </a:defRPr>
            </a:pPr>
            <a:r>
              <a:t>Use stronger augmentation, hyperparameter tuning and class-balanced training.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474720"/>
            <a:ext cx="5212080" cy="1874519"/>
          </a:xfrm>
          <a:prstGeom prst="roundRect">
            <a:avLst/>
          </a:prstGeom>
          <a:solidFill>
            <a:srgbClr val="F7F9FC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3474720"/>
            <a:ext cx="73152" cy="1874519"/>
          </a:xfrm>
          <a:prstGeom prst="rect">
            <a:avLst/>
          </a:prstGeom>
          <a:solidFill>
            <a:srgbClr val="41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64807" y="3630168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D4B"/>
                </a:solidFill>
              </a:defRPr>
            </a:pPr>
            <a:r>
              <a:t>Robust structuring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7" y="4069080"/>
            <a:ext cx="4846320" cy="1142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D2D2D"/>
                </a:solidFill>
              </a:defRPr>
            </a:pPr>
            <a:r>
              <a:t>Improve row/column association and support multi-page reports.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7293518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rPr lang="en-IN" dirty="0"/>
              <a:t>                                          </a:t>
            </a:r>
          </a:p>
          <a:p>
            <a:pPr>
              <a:defRPr sz="3400" b="1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3400" b="1">
                <a:solidFill>
                  <a:srgbClr val="FFFFFF"/>
                </a:solidFill>
              </a:defRPr>
            </a:pPr>
            <a:r>
              <a:rPr lang="en-IN" dirty="0"/>
              <a:t>                                                 </a:t>
            </a:r>
          </a:p>
          <a:p>
            <a:pPr>
              <a:defRPr sz="3400" b="1">
                <a:solidFill>
                  <a:srgbClr val="FFFFFF"/>
                </a:solidFill>
              </a:defRPr>
            </a:pPr>
            <a:r>
              <a:rPr lang="en-IN" dirty="0"/>
              <a:t>                                            THANK YOU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784</Words>
  <Application>Microsoft Office PowerPoint</Application>
  <PresentationFormat>Widescreen</PresentationFormat>
  <Paragraphs>143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Sakshi Jaiswal</cp:lastModifiedBy>
  <cp:revision>2</cp:revision>
  <dcterms:created xsi:type="dcterms:W3CDTF">2013-01-27T09:14:16Z</dcterms:created>
  <dcterms:modified xsi:type="dcterms:W3CDTF">2026-10-15T07:21:59Z</dcterms:modified>
  <cp:category/>
</cp:coreProperties>
</file>